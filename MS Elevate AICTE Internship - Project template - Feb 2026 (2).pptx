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8" d="100"/>
          <a:sy n="28" d="100"/>
        </p:scale>
        <p:origin x="954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wetank Dev" userId="7b0445a5e26a3b71" providerId="LiveId" clId="{86F8F102-0399-48E5-9085-737BF44BAE7A}"/>
    <pc:docChg chg="modSld">
      <pc:chgData name="Shwetank Dev" userId="7b0445a5e26a3b71" providerId="LiveId" clId="{86F8F102-0399-48E5-9085-737BF44BAE7A}" dt="2026-03-07T05:30:12.308" v="36" actId="5793"/>
      <pc:docMkLst>
        <pc:docMk/>
      </pc:docMkLst>
      <pc:sldChg chg="modSp mod">
        <pc:chgData name="Shwetank Dev" userId="7b0445a5e26a3b71" providerId="LiveId" clId="{86F8F102-0399-48E5-9085-737BF44BAE7A}" dt="2026-03-07T05:30:12.308" v="36" actId="5793"/>
        <pc:sldMkLst>
          <pc:docMk/>
          <pc:sldMk cId="0" sldId="265"/>
        </pc:sldMkLst>
        <pc:spChg chg="mod">
          <ac:chgData name="Shwetank Dev" userId="7b0445a5e26a3b71" providerId="LiveId" clId="{86F8F102-0399-48E5-9085-737BF44BAE7A}" dt="2026-03-07T05:30:12.308" v="36" actId="5793"/>
          <ac:spMkLst>
            <pc:docMk/>
            <pc:sldMk cId="0" sldId="265"/>
            <ac:spMk id="5" creationId="{7B232F34-67F7-417E-6384-695ACD90AD7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" y="647922"/>
            <a:ext cx="2609850" cy="92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832840" cy="880744"/>
          </a:xfrm>
          <a:custGeom>
            <a:avLst/>
            <a:gdLst/>
            <a:ahLst/>
            <a:cxnLst/>
            <a:rect l="l" t="t" r="r" b="b"/>
            <a:pathLst>
              <a:path w="13832840" h="880744">
                <a:moveTo>
                  <a:pt x="13832332" y="880491"/>
                </a:moveTo>
                <a:lnTo>
                  <a:pt x="0" y="880491"/>
                </a:lnTo>
                <a:lnTo>
                  <a:pt x="0" y="0"/>
                </a:lnTo>
                <a:lnTo>
                  <a:pt x="13832332" y="0"/>
                </a:lnTo>
                <a:lnTo>
                  <a:pt x="13832332" y="880491"/>
                </a:lnTo>
                <a:close/>
              </a:path>
            </a:pathLst>
          </a:custGeom>
          <a:solidFill>
            <a:srgbClr val="2534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924003"/>
            <a:ext cx="16256635" cy="220345"/>
          </a:xfrm>
          <a:custGeom>
            <a:avLst/>
            <a:gdLst/>
            <a:ahLst/>
            <a:cxnLst/>
            <a:rect l="l" t="t" r="r" b="b"/>
            <a:pathLst>
              <a:path w="16256635" h="220345">
                <a:moveTo>
                  <a:pt x="16256254" y="220091"/>
                </a:moveTo>
                <a:lnTo>
                  <a:pt x="0" y="220091"/>
                </a:lnTo>
                <a:lnTo>
                  <a:pt x="0" y="0"/>
                </a:lnTo>
                <a:lnTo>
                  <a:pt x="16256254" y="0"/>
                </a:lnTo>
                <a:lnTo>
                  <a:pt x="16256254" y="220091"/>
                </a:lnTo>
                <a:close/>
              </a:path>
            </a:pathLst>
          </a:custGeom>
          <a:solidFill>
            <a:srgbClr val="33A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57300" y="127000"/>
            <a:ext cx="1955800" cy="635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" y="647922"/>
            <a:ext cx="9036050" cy="12961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9900" y="2231866"/>
            <a:ext cx="13838555" cy="211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shwetankdev123456789@gmail.com" TargetMode="Externa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14300" y="-36443"/>
            <a:ext cx="16484600" cy="9184297"/>
            <a:chOff x="0" y="0"/>
            <a:chExt cx="16256000" cy="9144635"/>
          </a:xfrm>
        </p:grpSpPr>
        <p:sp>
          <p:nvSpPr>
            <p:cNvPr id="3" name="object 3"/>
            <p:cNvSpPr/>
            <p:nvPr/>
          </p:nvSpPr>
          <p:spPr>
            <a:xfrm>
              <a:off x="0" y="4572069"/>
              <a:ext cx="522605" cy="4572000"/>
            </a:xfrm>
            <a:custGeom>
              <a:avLst/>
              <a:gdLst/>
              <a:ahLst/>
              <a:cxnLst/>
              <a:rect l="l" t="t" r="r" b="b"/>
              <a:pathLst>
                <a:path w="522605" h="4572000">
                  <a:moveTo>
                    <a:pt x="522495" y="4571930"/>
                  </a:moveTo>
                  <a:lnTo>
                    <a:pt x="522495" y="0"/>
                  </a:lnTo>
                  <a:lnTo>
                    <a:pt x="0" y="0"/>
                  </a:lnTo>
                  <a:lnTo>
                    <a:pt x="0" y="4571930"/>
                  </a:lnTo>
                  <a:lnTo>
                    <a:pt x="522495" y="4571930"/>
                  </a:lnTo>
                  <a:close/>
                </a:path>
              </a:pathLst>
            </a:custGeom>
            <a:solidFill>
              <a:srgbClr val="33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304800" cy="4572635"/>
            </a:xfrm>
            <a:custGeom>
              <a:avLst/>
              <a:gdLst/>
              <a:ahLst/>
              <a:cxnLst/>
              <a:rect l="l" t="t" r="r" b="b"/>
              <a:pathLst>
                <a:path w="304800" h="4572635">
                  <a:moveTo>
                    <a:pt x="304800" y="4572127"/>
                  </a:moveTo>
                  <a:lnTo>
                    <a:pt x="0" y="4572127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4572127"/>
                  </a:lnTo>
                  <a:close/>
                </a:path>
              </a:pathLst>
            </a:custGeom>
            <a:solidFill>
              <a:srgbClr val="2534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679677"/>
              <a:ext cx="16256000" cy="464820"/>
            </a:xfrm>
            <a:custGeom>
              <a:avLst/>
              <a:gdLst/>
              <a:ahLst/>
              <a:cxnLst/>
              <a:rect l="l" t="t" r="r" b="b"/>
              <a:pathLst>
                <a:path w="16256000" h="464820">
                  <a:moveTo>
                    <a:pt x="0" y="464439"/>
                  </a:moveTo>
                  <a:lnTo>
                    <a:pt x="16255999" y="464439"/>
                  </a:lnTo>
                  <a:lnTo>
                    <a:pt x="16255999" y="0"/>
                  </a:lnTo>
                  <a:lnTo>
                    <a:pt x="0" y="0"/>
                  </a:lnTo>
                  <a:lnTo>
                    <a:pt x="0" y="464439"/>
                  </a:lnTo>
                  <a:close/>
                </a:path>
              </a:pathLst>
            </a:custGeom>
            <a:solidFill>
              <a:srgbClr val="33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419099"/>
              <a:ext cx="2298700" cy="749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7200" y="152400"/>
              <a:ext cx="8902700" cy="899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2800" y="330200"/>
              <a:ext cx="8204200" cy="8331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7100" y="1282700"/>
              <a:ext cx="6121400" cy="6578600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87400" y="1623358"/>
            <a:ext cx="4182745" cy="653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00" spc="-720" dirty="0"/>
              <a:t>C</a:t>
            </a:r>
            <a:r>
              <a:rPr sz="4100" spc="-915" dirty="0"/>
              <a:t>A</a:t>
            </a:r>
            <a:r>
              <a:rPr sz="4100" spc="-730" dirty="0"/>
              <a:t>P</a:t>
            </a:r>
            <a:r>
              <a:rPr sz="4100" spc="-745" dirty="0"/>
              <a:t>S</a:t>
            </a:r>
            <a:r>
              <a:rPr sz="4100" spc="-685" dirty="0"/>
              <a:t>T</a:t>
            </a:r>
            <a:r>
              <a:rPr sz="4100" spc="-850" dirty="0"/>
              <a:t>O</a:t>
            </a:r>
            <a:r>
              <a:rPr sz="4100" spc="-555" dirty="0"/>
              <a:t>N</a:t>
            </a:r>
            <a:r>
              <a:rPr sz="4100" spc="-335" dirty="0"/>
              <a:t>E</a:t>
            </a:r>
            <a:r>
              <a:rPr sz="4100" spc="-610" dirty="0"/>
              <a:t> </a:t>
            </a:r>
            <a:r>
              <a:rPr sz="4100" spc="-745" dirty="0"/>
              <a:t>P</a:t>
            </a:r>
            <a:r>
              <a:rPr sz="4100" spc="-705" dirty="0"/>
              <a:t>R</a:t>
            </a:r>
            <a:r>
              <a:rPr sz="4100" spc="-745" dirty="0"/>
              <a:t>O</a:t>
            </a:r>
            <a:r>
              <a:rPr sz="4100" spc="-600" dirty="0"/>
              <a:t>J</a:t>
            </a:r>
            <a:r>
              <a:rPr sz="4100" spc="-705" dirty="0"/>
              <a:t>E</a:t>
            </a:r>
            <a:r>
              <a:rPr sz="4100" spc="-850" dirty="0"/>
              <a:t>C</a:t>
            </a:r>
            <a:r>
              <a:rPr sz="4100" spc="-350" dirty="0"/>
              <a:t>T</a:t>
            </a:r>
            <a:endParaRPr sz="4100"/>
          </a:p>
        </p:txBody>
      </p:sp>
      <p:sp>
        <p:nvSpPr>
          <p:cNvPr id="11" name="object 11"/>
          <p:cNvSpPr txBox="1"/>
          <p:nvPr/>
        </p:nvSpPr>
        <p:spPr>
          <a:xfrm>
            <a:off x="615337" y="2498371"/>
            <a:ext cx="7074970" cy="223073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4800" dirty="0"/>
              <a:t>Zomato Sales &amp; Customer Insights Dashboard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9000" y="4745660"/>
            <a:ext cx="1878964" cy="276793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58500"/>
              </a:lnSpc>
              <a:spcBef>
                <a:spcPts val="114"/>
              </a:spcBef>
            </a:pPr>
            <a:r>
              <a:rPr sz="2300" b="1" spc="-390" dirty="0">
                <a:latin typeface="Arial"/>
                <a:cs typeface="Arial"/>
              </a:rPr>
              <a:t>PRESENTED</a:t>
            </a:r>
            <a:r>
              <a:rPr sz="2300" b="1" spc="-300" dirty="0">
                <a:latin typeface="Arial"/>
                <a:cs typeface="Arial"/>
              </a:rPr>
              <a:t> </a:t>
            </a:r>
            <a:r>
              <a:rPr sz="2300" b="1" spc="-315" dirty="0">
                <a:latin typeface="Arial"/>
                <a:cs typeface="Arial"/>
              </a:rPr>
              <a:t>BY </a:t>
            </a:r>
            <a:r>
              <a:rPr sz="2300" b="1" spc="-340" dirty="0">
                <a:latin typeface="Arial"/>
                <a:cs typeface="Arial"/>
              </a:rPr>
              <a:t>STUDENT</a:t>
            </a:r>
            <a:r>
              <a:rPr sz="2300" b="1" spc="-420" dirty="0">
                <a:latin typeface="Arial"/>
                <a:cs typeface="Arial"/>
              </a:rPr>
              <a:t> </a:t>
            </a:r>
            <a:r>
              <a:rPr sz="2300" b="1" spc="-370" dirty="0">
                <a:latin typeface="Arial"/>
                <a:cs typeface="Arial"/>
              </a:rPr>
              <a:t>NAME: </a:t>
            </a:r>
            <a:r>
              <a:rPr sz="2300" b="1" spc="-425" dirty="0">
                <a:latin typeface="Arial"/>
                <a:cs typeface="Arial"/>
              </a:rPr>
              <a:t>COLLEGE</a:t>
            </a:r>
            <a:r>
              <a:rPr sz="2300" b="1" spc="-355" dirty="0">
                <a:latin typeface="Arial"/>
                <a:cs typeface="Arial"/>
              </a:rPr>
              <a:t> </a:t>
            </a:r>
            <a:r>
              <a:rPr sz="2300" b="1" spc="-360" dirty="0">
                <a:latin typeface="Arial"/>
                <a:cs typeface="Arial"/>
              </a:rPr>
              <a:t>NAME: </a:t>
            </a:r>
            <a:endParaRPr lang="en-US" sz="2300" b="1" spc="-360" dirty="0">
              <a:latin typeface="Arial"/>
              <a:cs typeface="Arial"/>
            </a:endParaRPr>
          </a:p>
          <a:p>
            <a:pPr marL="12700" marR="5080">
              <a:lnSpc>
                <a:spcPct val="158500"/>
              </a:lnSpc>
              <a:spcBef>
                <a:spcPts val="114"/>
              </a:spcBef>
            </a:pPr>
            <a:r>
              <a:rPr sz="2300" b="1" spc="-375" dirty="0">
                <a:latin typeface="Arial"/>
                <a:cs typeface="Arial"/>
              </a:rPr>
              <a:t>DEPARTMENT: </a:t>
            </a:r>
            <a:r>
              <a:rPr sz="2300" b="1" spc="-305" dirty="0">
                <a:latin typeface="Arial"/>
                <a:cs typeface="Arial"/>
              </a:rPr>
              <a:t>EMAIL</a:t>
            </a:r>
            <a:r>
              <a:rPr sz="2300" b="1" spc="-315" dirty="0">
                <a:latin typeface="Arial"/>
                <a:cs typeface="Arial"/>
              </a:rPr>
              <a:t> </a:t>
            </a:r>
            <a:r>
              <a:rPr sz="2300" b="1" spc="-290" dirty="0">
                <a:latin typeface="Arial"/>
                <a:cs typeface="Arial"/>
              </a:rPr>
              <a:t>ID: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6577A3-1F18-51EB-6C09-0094BDC56A0C}"/>
              </a:ext>
            </a:extLst>
          </p:cNvPr>
          <p:cNvSpPr txBox="1"/>
          <p:nvPr/>
        </p:nvSpPr>
        <p:spPr>
          <a:xfrm>
            <a:off x="2879375" y="54864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SHWETANK DEV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8714FC-42C9-4CF6-FCBB-6CB5A1E9FD86}"/>
              </a:ext>
            </a:extLst>
          </p:cNvPr>
          <p:cNvSpPr txBox="1"/>
          <p:nvPr/>
        </p:nvSpPr>
        <p:spPr>
          <a:xfrm>
            <a:off x="2691316" y="5890051"/>
            <a:ext cx="4557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RAJA BALWANT SINGH ENGINEERING</a:t>
            </a:r>
          </a:p>
          <a:p>
            <a:r>
              <a:rPr lang="en-US" dirty="0"/>
              <a:t>TECHNICAL CAMPUS ,BICHPURI ,AGRA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01607-E7EC-B5B0-ADAF-E2FF67DD30AF}"/>
              </a:ext>
            </a:extLst>
          </p:cNvPr>
          <p:cNvSpPr txBox="1"/>
          <p:nvPr/>
        </p:nvSpPr>
        <p:spPr>
          <a:xfrm>
            <a:off x="2786406" y="661490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SCIENCE 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D4BA8D-5DE7-1930-2858-82FD7D02B3BA}"/>
              </a:ext>
            </a:extLst>
          </p:cNvPr>
          <p:cNvSpPr txBox="1"/>
          <p:nvPr/>
        </p:nvSpPr>
        <p:spPr>
          <a:xfrm>
            <a:off x="2764769" y="7045241"/>
            <a:ext cx="40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6"/>
              </a:rPr>
              <a:t>shwetankdev123456789@gmail.com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0" spc="-1075" dirty="0"/>
              <a:t>O</a:t>
            </a:r>
            <a:r>
              <a:rPr sz="8000" spc="-990" dirty="0"/>
              <a:t>U</a:t>
            </a:r>
            <a:r>
              <a:rPr sz="8000" spc="-1285" dirty="0"/>
              <a:t>T</a:t>
            </a:r>
            <a:r>
              <a:rPr sz="8000" spc="-1045" dirty="0"/>
              <a:t>L</a:t>
            </a:r>
            <a:r>
              <a:rPr sz="8000" spc="-509" dirty="0"/>
              <a:t>I</a:t>
            </a:r>
            <a:r>
              <a:rPr sz="8000" spc="-765" dirty="0"/>
              <a:t>N</a:t>
            </a:r>
            <a:r>
              <a:rPr sz="8000" spc="-1125" dirty="0"/>
              <a:t>E</a:t>
            </a:r>
            <a:r>
              <a:rPr sz="8000" spc="-825" dirty="0"/>
              <a:t>: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685800" y="2279074"/>
            <a:ext cx="8735060" cy="47371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418465" indent="-405765">
              <a:lnSpc>
                <a:spcPct val="100000"/>
              </a:lnSpc>
              <a:spcBef>
                <a:spcPts val="855"/>
              </a:spcBef>
              <a:buSzPct val="85937"/>
              <a:buFont typeface="Arial MT"/>
              <a:buChar char="•"/>
              <a:tabLst>
                <a:tab pos="418465" algn="l"/>
              </a:tabLst>
            </a:pPr>
            <a:r>
              <a:rPr sz="3200" b="1" spc="-250" dirty="0">
                <a:latin typeface="Arial"/>
                <a:cs typeface="Arial"/>
              </a:rPr>
              <a:t>Problem</a:t>
            </a:r>
            <a:r>
              <a:rPr sz="3200" b="1" spc="-325" dirty="0">
                <a:latin typeface="Arial"/>
                <a:cs typeface="Arial"/>
              </a:rPr>
              <a:t> </a:t>
            </a:r>
            <a:r>
              <a:rPr sz="3200" b="1" spc="-235" dirty="0">
                <a:latin typeface="Arial"/>
                <a:cs typeface="Arial"/>
              </a:rPr>
              <a:t>Statement</a:t>
            </a:r>
            <a:r>
              <a:rPr sz="3200" b="1" spc="-375" dirty="0">
                <a:latin typeface="Arial"/>
                <a:cs typeface="Arial"/>
              </a:rPr>
              <a:t> </a:t>
            </a:r>
            <a:r>
              <a:rPr sz="3200" spc="-200" dirty="0">
                <a:latin typeface="Arial MT"/>
                <a:cs typeface="Arial MT"/>
              </a:rPr>
              <a:t>(Should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120" dirty="0">
                <a:latin typeface="Arial MT"/>
                <a:cs typeface="Arial MT"/>
              </a:rPr>
              <a:t>not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130" dirty="0">
                <a:latin typeface="Arial MT"/>
                <a:cs typeface="Arial MT"/>
              </a:rPr>
              <a:t>include</a:t>
            </a:r>
            <a:r>
              <a:rPr sz="3200" spc="-204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solution)</a:t>
            </a:r>
            <a:endParaRPr sz="3200">
              <a:latin typeface="Arial MT"/>
              <a:cs typeface="Arial MT"/>
            </a:endParaRPr>
          </a:p>
          <a:p>
            <a:pPr marL="418465" indent="-405765">
              <a:lnSpc>
                <a:spcPct val="100000"/>
              </a:lnSpc>
              <a:spcBef>
                <a:spcPts val="760"/>
              </a:spcBef>
              <a:buSzPct val="85937"/>
              <a:buFont typeface="Arial MT"/>
              <a:buChar char="•"/>
              <a:tabLst>
                <a:tab pos="418465" algn="l"/>
              </a:tabLst>
            </a:pPr>
            <a:r>
              <a:rPr sz="3200" b="1" spc="-295" dirty="0">
                <a:latin typeface="Arial"/>
                <a:cs typeface="Arial"/>
              </a:rPr>
              <a:t>Proposed</a:t>
            </a:r>
            <a:r>
              <a:rPr sz="3200" b="1" spc="-175" dirty="0">
                <a:latin typeface="Arial"/>
                <a:cs typeface="Arial"/>
              </a:rPr>
              <a:t> </a:t>
            </a:r>
            <a:r>
              <a:rPr sz="3200" b="1" spc="-180" dirty="0">
                <a:latin typeface="Arial"/>
                <a:cs typeface="Arial"/>
              </a:rPr>
              <a:t>System/Solution</a:t>
            </a:r>
            <a:endParaRPr sz="3200">
              <a:latin typeface="Arial"/>
              <a:cs typeface="Arial"/>
            </a:endParaRPr>
          </a:p>
          <a:p>
            <a:pPr marL="418465" indent="-405765">
              <a:lnSpc>
                <a:spcPct val="100000"/>
              </a:lnSpc>
              <a:spcBef>
                <a:spcPts val="860"/>
              </a:spcBef>
              <a:buSzPct val="85937"/>
              <a:buFont typeface="Arial MT"/>
              <a:buChar char="•"/>
              <a:tabLst>
                <a:tab pos="418465" algn="l"/>
              </a:tabLst>
            </a:pPr>
            <a:r>
              <a:rPr sz="3200" b="1" spc="-280" dirty="0">
                <a:latin typeface="Arial"/>
                <a:cs typeface="Arial"/>
              </a:rPr>
              <a:t>System</a:t>
            </a:r>
            <a:r>
              <a:rPr sz="3200" b="1" spc="-340" dirty="0">
                <a:latin typeface="Arial"/>
                <a:cs typeface="Arial"/>
              </a:rPr>
              <a:t> </a:t>
            </a:r>
            <a:r>
              <a:rPr sz="3200" b="1" spc="-265" dirty="0">
                <a:latin typeface="Arial"/>
                <a:cs typeface="Arial"/>
              </a:rPr>
              <a:t>Development</a:t>
            </a:r>
            <a:r>
              <a:rPr sz="3200" b="1" spc="-280" dirty="0">
                <a:latin typeface="Arial"/>
                <a:cs typeface="Arial"/>
              </a:rPr>
              <a:t> </a:t>
            </a:r>
            <a:r>
              <a:rPr sz="3200" b="1" spc="-315" dirty="0">
                <a:latin typeface="Arial"/>
                <a:cs typeface="Arial"/>
              </a:rPr>
              <a:t>Approach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spc="-165" dirty="0">
                <a:latin typeface="Arial MT"/>
                <a:cs typeface="Arial MT"/>
              </a:rPr>
              <a:t>(Technology</a:t>
            </a:r>
            <a:r>
              <a:rPr sz="3200" spc="-225" dirty="0">
                <a:latin typeface="Arial MT"/>
                <a:cs typeface="Arial MT"/>
              </a:rPr>
              <a:t> </a:t>
            </a:r>
            <a:r>
              <a:rPr sz="3200" spc="-130" dirty="0">
                <a:latin typeface="Arial MT"/>
                <a:cs typeface="Arial MT"/>
              </a:rPr>
              <a:t>Used)</a:t>
            </a:r>
            <a:endParaRPr sz="3200">
              <a:latin typeface="Arial MT"/>
              <a:cs typeface="Arial MT"/>
            </a:endParaRPr>
          </a:p>
          <a:p>
            <a:pPr marL="418465" indent="-405765">
              <a:lnSpc>
                <a:spcPct val="100000"/>
              </a:lnSpc>
              <a:spcBef>
                <a:spcPts val="760"/>
              </a:spcBef>
              <a:buSzPct val="85937"/>
              <a:buFont typeface="Arial MT"/>
              <a:buChar char="•"/>
              <a:tabLst>
                <a:tab pos="418465" algn="l"/>
              </a:tabLst>
            </a:pPr>
            <a:r>
              <a:rPr sz="3200" b="1" spc="-250" dirty="0">
                <a:latin typeface="Arial"/>
                <a:cs typeface="Arial"/>
              </a:rPr>
              <a:t>Algorithm</a:t>
            </a:r>
            <a:r>
              <a:rPr sz="3200" b="1" spc="-340" dirty="0">
                <a:latin typeface="Arial"/>
                <a:cs typeface="Arial"/>
              </a:rPr>
              <a:t> </a:t>
            </a:r>
            <a:r>
              <a:rPr sz="3200" b="1" spc="-280" dirty="0">
                <a:latin typeface="Arial"/>
                <a:cs typeface="Arial"/>
              </a:rPr>
              <a:t>&amp;</a:t>
            </a:r>
            <a:r>
              <a:rPr sz="3200" b="1" spc="-420" dirty="0">
                <a:latin typeface="Arial"/>
                <a:cs typeface="Arial"/>
              </a:rPr>
              <a:t> </a:t>
            </a:r>
            <a:r>
              <a:rPr sz="3200" b="1" spc="-280" dirty="0">
                <a:latin typeface="Arial"/>
                <a:cs typeface="Arial"/>
              </a:rPr>
              <a:t>Deployment</a:t>
            </a:r>
            <a:endParaRPr sz="3200">
              <a:latin typeface="Arial"/>
              <a:cs typeface="Arial"/>
            </a:endParaRPr>
          </a:p>
          <a:p>
            <a:pPr marL="418465" indent="-405765">
              <a:lnSpc>
                <a:spcPct val="100000"/>
              </a:lnSpc>
              <a:spcBef>
                <a:spcPts val="860"/>
              </a:spcBef>
              <a:buSzPct val="85937"/>
              <a:buFont typeface="Arial MT"/>
              <a:buChar char="•"/>
              <a:tabLst>
                <a:tab pos="418465" algn="l"/>
              </a:tabLst>
            </a:pPr>
            <a:r>
              <a:rPr sz="3200" b="1" spc="-254" dirty="0">
                <a:latin typeface="Arial"/>
                <a:cs typeface="Arial"/>
              </a:rPr>
              <a:t>Result</a:t>
            </a:r>
            <a:r>
              <a:rPr sz="3200" b="1" spc="-295" dirty="0">
                <a:latin typeface="Arial"/>
                <a:cs typeface="Arial"/>
              </a:rPr>
              <a:t> </a:t>
            </a:r>
            <a:r>
              <a:rPr sz="3200" b="1" spc="-265" dirty="0">
                <a:latin typeface="Arial"/>
                <a:cs typeface="Arial"/>
              </a:rPr>
              <a:t>(Output</a:t>
            </a:r>
            <a:r>
              <a:rPr sz="3200" b="1" spc="-295" dirty="0">
                <a:latin typeface="Arial"/>
                <a:cs typeface="Arial"/>
              </a:rPr>
              <a:t> </a:t>
            </a:r>
            <a:r>
              <a:rPr sz="3200" b="1" spc="-40" dirty="0">
                <a:latin typeface="Arial"/>
                <a:cs typeface="Arial"/>
              </a:rPr>
              <a:t>Image)</a:t>
            </a:r>
            <a:endParaRPr sz="3200">
              <a:latin typeface="Arial"/>
              <a:cs typeface="Arial"/>
            </a:endParaRPr>
          </a:p>
          <a:p>
            <a:pPr marL="418465" indent="-405765">
              <a:lnSpc>
                <a:spcPct val="100000"/>
              </a:lnSpc>
              <a:spcBef>
                <a:spcPts val="760"/>
              </a:spcBef>
              <a:buSzPct val="85937"/>
              <a:buFont typeface="Arial MT"/>
              <a:buChar char="•"/>
              <a:tabLst>
                <a:tab pos="418465" algn="l"/>
              </a:tabLst>
            </a:pPr>
            <a:r>
              <a:rPr sz="3200" b="1" spc="-300" dirty="0">
                <a:latin typeface="Arial"/>
                <a:cs typeface="Arial"/>
              </a:rPr>
              <a:t>Conclusion</a:t>
            </a:r>
            <a:endParaRPr sz="3200">
              <a:latin typeface="Arial"/>
              <a:cs typeface="Arial"/>
            </a:endParaRPr>
          </a:p>
          <a:p>
            <a:pPr marL="418465" indent="-405765">
              <a:lnSpc>
                <a:spcPct val="100000"/>
              </a:lnSpc>
              <a:spcBef>
                <a:spcPts val="860"/>
              </a:spcBef>
              <a:buSzPct val="85937"/>
              <a:buFont typeface="Arial MT"/>
              <a:buChar char="•"/>
              <a:tabLst>
                <a:tab pos="418465" algn="l"/>
              </a:tabLst>
            </a:pPr>
            <a:r>
              <a:rPr sz="3200" b="1" spc="-254" dirty="0">
                <a:latin typeface="Arial"/>
                <a:cs typeface="Arial"/>
              </a:rPr>
              <a:t>Future</a:t>
            </a:r>
            <a:r>
              <a:rPr sz="3200" b="1" spc="-420" dirty="0">
                <a:latin typeface="Arial"/>
                <a:cs typeface="Arial"/>
              </a:rPr>
              <a:t> </a:t>
            </a:r>
            <a:r>
              <a:rPr sz="3200" b="1" spc="-295" dirty="0">
                <a:latin typeface="Arial"/>
                <a:cs typeface="Arial"/>
              </a:rPr>
              <a:t>Scope</a:t>
            </a:r>
            <a:endParaRPr sz="3200">
              <a:latin typeface="Arial"/>
              <a:cs typeface="Arial"/>
            </a:endParaRPr>
          </a:p>
          <a:p>
            <a:pPr marL="418465" indent="-405765">
              <a:lnSpc>
                <a:spcPct val="100000"/>
              </a:lnSpc>
              <a:spcBef>
                <a:spcPts val="760"/>
              </a:spcBef>
              <a:buSzPct val="85937"/>
              <a:buFont typeface="Arial MT"/>
              <a:buChar char="•"/>
              <a:tabLst>
                <a:tab pos="418465" algn="l"/>
              </a:tabLst>
            </a:pPr>
            <a:r>
              <a:rPr sz="3200" b="1" spc="-150" dirty="0">
                <a:latin typeface="Arial"/>
                <a:cs typeface="Arial"/>
              </a:rPr>
              <a:t>References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65" dirty="0"/>
              <a:t>PROBLEM</a:t>
            </a:r>
            <a:r>
              <a:rPr spc="-630" dirty="0"/>
              <a:t> </a:t>
            </a:r>
            <a:r>
              <a:rPr spc="-650" dirty="0"/>
              <a:t>STATEMENT: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E0A1F8-AAAE-75C3-9C66-180D7EF19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1953399"/>
            <a:ext cx="1455420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a vast network of 150,281 services and 77,929 connections requires high-level data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difficult to identify which food categories (Veg vs. Non-Veg) perform better across different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 annual sales trends (2017–2020) is essential to understand business growth or decline.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which cities like Tirupati or Electronic City require more resources based on "Amount" and "Quantity" is a major concern.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7950" y="914400"/>
            <a:ext cx="6953250" cy="92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5" dirty="0"/>
              <a:t>PROPOSED</a:t>
            </a:r>
            <a:r>
              <a:rPr spc="-620" dirty="0"/>
              <a:t> </a:t>
            </a:r>
            <a:r>
              <a:rPr spc="-810" dirty="0"/>
              <a:t>S</a:t>
            </a:r>
            <a:r>
              <a:rPr spc="-805" dirty="0"/>
              <a:t>O</a:t>
            </a:r>
            <a:r>
              <a:rPr spc="-740" dirty="0"/>
              <a:t>L</a:t>
            </a:r>
            <a:r>
              <a:rPr spc="-715" dirty="0"/>
              <a:t>U</a:t>
            </a:r>
            <a:r>
              <a:rPr spc="-915" dirty="0"/>
              <a:t>T</a:t>
            </a:r>
            <a:r>
              <a:rPr spc="-350" dirty="0"/>
              <a:t>I</a:t>
            </a:r>
            <a:r>
              <a:rPr spc="-805" dirty="0"/>
              <a:t>O</a:t>
            </a:r>
            <a:r>
              <a:rPr spc="-625" dirty="0"/>
              <a:t>N</a:t>
            </a:r>
            <a:r>
              <a:rPr spc="-610" dirty="0"/>
              <a:t>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D7788E-D5F2-AEF3-BC3A-855DEA9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838960"/>
            <a:ext cx="15011400" cy="6140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Develop an interactive Power BI dashboard to visualize KPIs such as Total Amount ($987M$), Total Orders ($150K$), and Total Quantity ($2M$).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Implement data filtering by "Top 10," "Top 20," and "Top 100" cities to pinpoint high-value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Segment food types into Veg, Non-Veg, and Others to analyze specific market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Utilize time-series visualizations to monitor sales health over a four-year period.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>
            <a:extLst>
              <a:ext uri="{FF2B5EF4-FFF2-40B4-BE49-F238E27FC236}">
                <a16:creationId xmlns:a16="http://schemas.microsoft.com/office/drawing/2014/main" id="{11EBBEC6-5E0E-1069-BC11-203E06B5B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685800"/>
            <a:ext cx="13487400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System Requirements: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Power BI Desktop for development and Power BI Service for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Libraries/Modules Required: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 integration of tables including food, menu, orders, restaurant, and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Technology: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DAX (Data Analysis Expressions) for creating measures like "Amount" ($986.5M$) and "Ratings" ($148K$).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80" dirty="0"/>
              <a:t>A</a:t>
            </a:r>
            <a:r>
              <a:rPr spc="-660" dirty="0"/>
              <a:t>L</a:t>
            </a:r>
            <a:r>
              <a:rPr spc="-570" dirty="0"/>
              <a:t>G</a:t>
            </a:r>
            <a:r>
              <a:rPr spc="-600" dirty="0"/>
              <a:t>O</a:t>
            </a:r>
            <a:r>
              <a:rPr spc="-735" dirty="0"/>
              <a:t>R</a:t>
            </a:r>
            <a:r>
              <a:rPr spc="-270" dirty="0"/>
              <a:t>I</a:t>
            </a:r>
            <a:r>
              <a:rPr spc="-835" dirty="0"/>
              <a:t>T</a:t>
            </a:r>
            <a:r>
              <a:rPr spc="-550" dirty="0"/>
              <a:t>H</a:t>
            </a:r>
            <a:r>
              <a:rPr spc="-530" dirty="0"/>
              <a:t>M</a:t>
            </a:r>
            <a:r>
              <a:rPr spc="-630" dirty="0"/>
              <a:t> </a:t>
            </a:r>
            <a:r>
              <a:rPr spc="-555" dirty="0"/>
              <a:t>&amp;</a:t>
            </a:r>
            <a:r>
              <a:rPr spc="-975" dirty="0"/>
              <a:t> </a:t>
            </a:r>
            <a:r>
              <a:rPr spc="-585" dirty="0"/>
              <a:t>D</a:t>
            </a:r>
            <a:r>
              <a:rPr spc="-850" dirty="0"/>
              <a:t>E</a:t>
            </a:r>
            <a:r>
              <a:rPr spc="-585" dirty="0"/>
              <a:t>P</a:t>
            </a:r>
            <a:r>
              <a:rPr spc="-819" dirty="0"/>
              <a:t>L</a:t>
            </a:r>
            <a:r>
              <a:rPr spc="-640" dirty="0"/>
              <a:t>O</a:t>
            </a:r>
            <a:r>
              <a:rPr spc="-1019" dirty="0"/>
              <a:t>Y</a:t>
            </a:r>
            <a:r>
              <a:rPr spc="-785" dirty="0"/>
              <a:t>M</a:t>
            </a:r>
            <a:r>
              <a:rPr spc="-725" dirty="0"/>
              <a:t>E</a:t>
            </a:r>
            <a:r>
              <a:rPr spc="-480" dirty="0"/>
              <a:t>N</a:t>
            </a:r>
            <a:r>
              <a:rPr spc="-875" dirty="0"/>
              <a:t>T</a:t>
            </a:r>
            <a:r>
              <a:rPr spc="-570" dirty="0"/>
              <a:t>: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F9D88119-6840-E1E7-CEC7-A65E46CB9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1447800"/>
            <a:ext cx="11658600" cy="669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Algorithm Selection: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 of Descriptive Analytics and Time-Series Analysis to process historical order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Input: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Historical files containing order dates, city names, food categories, and customer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Training/Logic: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 modeling involves linking the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Measure_Table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core data tables to ensure accurate filtering across visuals.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Deployment: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dashboard is deployed as a web-accessible report with interactive slicers for real-time data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01600" y="751840"/>
            <a:ext cx="2609850" cy="92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80" dirty="0"/>
              <a:t>RESULT: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1F43E8-D076-D48B-6E60-B5329AB82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70" y="1773704"/>
            <a:ext cx="14782800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Findings: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Veg food dominates with $122M$ in sales compared to Non-Veg at $106M$.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City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Tirupati and Electronic City emerged as the top revenue-generating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Sales Trend: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Sales peaked in 2018 ($0.41bn$) before showing a downward trend towards 2020 ($0.14bn$).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61DB8E-55E1-F75E-09B3-7FF57E62D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3048000"/>
            <a:ext cx="7924800" cy="4791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879BF8-F124-588D-2A16-7C4290557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0" y="3137598"/>
            <a:ext cx="8024871" cy="4433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" y="913698"/>
            <a:ext cx="9036050" cy="12961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10" dirty="0"/>
              <a:t>C</a:t>
            </a:r>
            <a:r>
              <a:rPr spc="-855" dirty="0"/>
              <a:t>O</a:t>
            </a:r>
            <a:r>
              <a:rPr spc="-570" dirty="0"/>
              <a:t>N</a:t>
            </a:r>
            <a:r>
              <a:rPr spc="-910" dirty="0"/>
              <a:t>C</a:t>
            </a:r>
            <a:r>
              <a:rPr spc="-790" dirty="0"/>
              <a:t>L</a:t>
            </a:r>
            <a:r>
              <a:rPr spc="-765" dirty="0"/>
              <a:t>U</a:t>
            </a:r>
            <a:r>
              <a:rPr spc="-860" dirty="0"/>
              <a:t>S</a:t>
            </a:r>
            <a:r>
              <a:rPr spc="-400" dirty="0"/>
              <a:t>I</a:t>
            </a:r>
            <a:r>
              <a:rPr spc="-855" dirty="0"/>
              <a:t>O</a:t>
            </a:r>
            <a:r>
              <a:rPr spc="-675" dirty="0"/>
              <a:t>N</a:t>
            </a:r>
            <a:r>
              <a:rPr spc="-660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B8EF70-86D8-F41B-E1F0-17F7BFD03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1778927"/>
            <a:ext cx="14020800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dashboard successfully provides a 360-degree view of Zomato's sales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Visualizing $148K$ ratings helps identify customer satisfaction levels across different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Accurate data representation of the $150K$ total orders is crucial for ensuring a stable delivery supply chain in urban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" y="837498"/>
            <a:ext cx="9036050" cy="12961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80" dirty="0"/>
              <a:t>FUTURE</a:t>
            </a:r>
            <a:r>
              <a:rPr spc="-650" dirty="0"/>
              <a:t> </a:t>
            </a:r>
            <a:r>
              <a:rPr spc="-830" dirty="0"/>
              <a:t>SCOPE: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659037-AA47-6A2D-D55A-90C1CC57B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2438400"/>
            <a:ext cx="14935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real-time delivery tracking and predictive demand   forecasting using Machine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Expanding the dashboard to include sentiment analysis of customer reviews from the "ratings"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Incorporating external data like weather or local events to see their impact on "Sale by Year".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2550" y="837498"/>
            <a:ext cx="9036050" cy="12961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55" dirty="0"/>
              <a:t>REFERENCES: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232F34-67F7-417E-6384-695ACD90A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2514600"/>
            <a:ext cx="12268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Elevate AICTE Internship Guidelines.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Zomato Dataset for Business Intelligence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Documentation for DAX and Data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10300" y="3870653"/>
            <a:ext cx="3815715" cy="1111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100" spc="-590" dirty="0">
                <a:solidFill>
                  <a:srgbClr val="002060"/>
                </a:solidFill>
              </a:rPr>
              <a:t>Thank</a:t>
            </a:r>
            <a:r>
              <a:rPr sz="7100" spc="-1165" dirty="0">
                <a:solidFill>
                  <a:srgbClr val="002060"/>
                </a:solidFill>
              </a:rPr>
              <a:t> </a:t>
            </a:r>
            <a:r>
              <a:rPr sz="7100" spc="-890" dirty="0">
                <a:solidFill>
                  <a:srgbClr val="002060"/>
                </a:solidFill>
              </a:rPr>
              <a:t>You</a:t>
            </a:r>
            <a:endParaRPr sz="7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557</Words>
  <Application>Microsoft Office PowerPoint</Application>
  <PresentationFormat>Custom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MT</vt:lpstr>
      <vt:lpstr>Google Sans Text</vt:lpstr>
      <vt:lpstr>Office Theme</vt:lpstr>
      <vt:lpstr>CAPSTONE PROJECT</vt:lpstr>
      <vt:lpstr>OUTLINE:</vt:lpstr>
      <vt:lpstr>PROBLEM STATEMENT:</vt:lpstr>
      <vt:lpstr>PROPOSED SOLUTION:</vt:lpstr>
      <vt:lpstr>PowerPoint Presentation</vt:lpstr>
      <vt:lpstr>ALGORITHM &amp; DEPLOYMENT:</vt:lpstr>
      <vt:lpstr>RESULT:</vt:lpstr>
      <vt:lpstr>CONCLUSION:</vt:lpstr>
      <vt:lpstr>FUTURE SCOPE: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Shwetank Dev</cp:lastModifiedBy>
  <cp:revision>7</cp:revision>
  <dcterms:created xsi:type="dcterms:W3CDTF">2026-03-06T15:42:12Z</dcterms:created>
  <dcterms:modified xsi:type="dcterms:W3CDTF">2026-03-07T05:30:15Z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2026-03-06T00:00:00Z</vt:filetime>
  </property>
</Properties>
</file>